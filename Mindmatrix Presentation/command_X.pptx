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11" d="100"/>
          <a:sy n="111" d="100"/>
        </p:scale>
        <p:origin x="161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TextBox 1"/>
          <p:cNvSpPr txBox="1"/>
          <p:nvPr/>
        </p:nvSpPr>
        <p:spPr>
          <a:xfrm>
            <a:off x="457200" y="1371600"/>
            <a:ext cx="8229600" cy="1371600"/>
          </a:xfrm>
          <a:prstGeom prst="rect">
            <a:avLst/>
          </a:prstGeom>
          <a:noFill/>
        </p:spPr>
        <p:txBody>
          <a:bodyPr wrap="square">
            <a:spAutoFit/>
          </a:bodyPr>
          <a:lstStyle/>
          <a:p>
            <a:pPr>
              <a:defRPr sz="5400" b="1">
                <a:solidFill>
                  <a:srgbClr val="000000"/>
                </a:solidFill>
              </a:defRPr>
            </a:pPr>
            <a:r>
              <a:t>Internship Presentation</a:t>
            </a:r>
          </a:p>
        </p:txBody>
      </p:sp>
      <p:sp>
        <p:nvSpPr>
          <p:cNvPr id="3" name="TextBox 2"/>
          <p:cNvSpPr txBox="1"/>
          <p:nvPr/>
        </p:nvSpPr>
        <p:spPr>
          <a:xfrm>
            <a:off x="457200" y="2743200"/>
            <a:ext cx="8229600" cy="914400"/>
          </a:xfrm>
          <a:prstGeom prst="rect">
            <a:avLst/>
          </a:prstGeom>
          <a:noFill/>
        </p:spPr>
        <p:txBody>
          <a:bodyPr wrap="none">
            <a:spAutoFit/>
          </a:bodyPr>
          <a:lstStyle/>
          <a:p>
            <a:pPr>
              <a:defRPr sz="2800">
                <a:solidFill>
                  <a:srgbClr val="333333"/>
                </a:solidFill>
              </a:defRPr>
            </a:pPr>
            <a:r>
              <a:t>Android App Development using GenAI</a:t>
            </a:r>
          </a:p>
        </p:txBody>
      </p:sp>
      <p:sp>
        <p:nvSpPr>
          <p:cNvPr id="4" name="TextBox 3"/>
          <p:cNvSpPr txBox="1"/>
          <p:nvPr/>
        </p:nvSpPr>
        <p:spPr>
          <a:xfrm>
            <a:off x="457200" y="3840480"/>
            <a:ext cx="8229600" cy="1753429"/>
          </a:xfrm>
          <a:prstGeom prst="rect">
            <a:avLst/>
          </a:prstGeom>
          <a:noFill/>
        </p:spPr>
        <p:txBody>
          <a:bodyPr wrap="square">
            <a:spAutoFit/>
          </a:bodyPr>
          <a:lstStyle/>
          <a:p>
            <a:pPr>
              <a:lnSpc>
                <a:spcPct val="130000"/>
              </a:lnSpc>
              <a:defRPr sz="1200">
                <a:solidFill>
                  <a:srgbClr val="505050"/>
                </a:solidFill>
              </a:defRPr>
            </a:pPr>
            <a:r>
              <a:rPr dirty="0"/>
              <a:t>INTERNSHIP (Subject Code BIS803)</a:t>
            </a:r>
            <a:br>
              <a:rPr dirty="0"/>
            </a:br>
            <a:br>
              <a:rPr dirty="0"/>
            </a:br>
            <a:r>
              <a:rPr dirty="0"/>
              <a:t>by </a:t>
            </a:r>
            <a:r>
              <a:rPr lang="en-US" dirty="0" err="1"/>
              <a:t>Srajan</a:t>
            </a:r>
            <a:r>
              <a:rPr dirty="0"/>
              <a:t>| 1HK22IS018</a:t>
            </a:r>
            <a:br>
              <a:rPr dirty="0"/>
            </a:br>
            <a:r>
              <a:rPr dirty="0"/>
              <a:t>VIII Semester: B.E (ISE) 2025-26</a:t>
            </a:r>
            <a:br>
              <a:rPr dirty="0"/>
            </a:br>
            <a:br>
              <a:rPr dirty="0"/>
            </a:br>
            <a:r>
              <a:rPr dirty="0"/>
              <a:t>Internal Guide: Prof. </a:t>
            </a:r>
            <a:r>
              <a:rPr lang="en-US" dirty="0"/>
              <a:t>x</a:t>
            </a:r>
            <a:br>
              <a:rPr dirty="0"/>
            </a:br>
            <a:r>
              <a:rPr dirty="0"/>
              <a:t>External Guide: Mr. </a:t>
            </a:r>
            <a:r>
              <a:rPr dirty="0" err="1"/>
              <a:t>Tirumal</a:t>
            </a:r>
            <a:r>
              <a:rPr dirty="0"/>
              <a:t> </a:t>
            </a:r>
            <a:r>
              <a:rPr dirty="0" err="1"/>
              <a:t>Mutalikdesai</a:t>
            </a:r>
            <a:r>
              <a:rPr dirty="0"/>
              <a:t>, MindMatrix.io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8229600" cy="640080"/>
          </a:xfrm>
          <a:prstGeom prst="rect">
            <a:avLst/>
          </a:prstGeom>
          <a:noFill/>
        </p:spPr>
        <p:txBody>
          <a:bodyPr wrap="none">
            <a:spAutoFit/>
          </a:bodyPr>
          <a:lstStyle/>
          <a:p>
            <a:pPr>
              <a:defRPr sz="3200" b="1">
                <a:solidFill>
                  <a:srgbClr val="000000"/>
                </a:solidFill>
              </a:defRPr>
            </a:pPr>
            <a:r>
              <a:rPr dirty="0"/>
              <a:t>ORGANIZATIONAL INFRASTRUCTURE</a:t>
            </a:r>
          </a:p>
        </p:txBody>
      </p:sp>
      <p:sp>
        <p:nvSpPr>
          <p:cNvPr id="3" name="TextBox 2"/>
          <p:cNvSpPr txBox="1"/>
          <p:nvPr/>
        </p:nvSpPr>
        <p:spPr>
          <a:xfrm>
            <a:off x="548640" y="1005840"/>
            <a:ext cx="8046720" cy="5394960"/>
          </a:xfrm>
          <a:prstGeom prst="rect">
            <a:avLst/>
          </a:prstGeom>
          <a:noFill/>
        </p:spPr>
        <p:txBody>
          <a:bodyPr wrap="square">
            <a:spAutoFit/>
          </a:bodyPr>
          <a:lstStyle/>
          <a:p>
            <a:pPr>
              <a:spcAft>
                <a:spcPts val="300"/>
              </a:spcAft>
              <a:defRPr sz="1300" b="1">
                <a:solidFill>
                  <a:srgbClr val="000000"/>
                </a:solidFill>
              </a:defRPr>
            </a:pPr>
            <a:r>
              <a:rPr dirty="0"/>
              <a:t>Digital Infrastructure:</a:t>
            </a:r>
          </a:p>
          <a:p>
            <a:pPr>
              <a:spcAft>
                <a:spcPts val="400"/>
              </a:spcAft>
              <a:defRPr sz="1100">
                <a:solidFill>
                  <a:srgbClr val="282828"/>
                </a:solidFill>
              </a:defRPr>
            </a:pPr>
            <a:r>
              <a:rPr dirty="0" err="1"/>
              <a:t>MindMatrix</a:t>
            </a:r>
            <a:r>
              <a:rPr dirty="0"/>
              <a:t> operates on a cloud-based LMS platform (lms.mindmatrix.io) with AI-powered personalized learning, real-time progress tracking, and mobile-responsive interfaces. The infrastructure is scalable and secure, supporting 10,000+ active learners with advanced analytics capabilities.</a:t>
            </a:r>
          </a:p>
          <a:p>
            <a:endParaRPr dirty="0"/>
          </a:p>
          <a:p>
            <a:pPr>
              <a:spcAft>
                <a:spcPts val="300"/>
              </a:spcAft>
              <a:defRPr sz="1300" b="1">
                <a:solidFill>
                  <a:srgbClr val="000000"/>
                </a:solidFill>
              </a:defRPr>
            </a:pPr>
            <a:r>
              <a:rPr dirty="0"/>
              <a:t>Technology Stack:</a:t>
            </a:r>
          </a:p>
          <a:p>
            <a:pPr>
              <a:spcAft>
                <a:spcPts val="200"/>
              </a:spcAft>
              <a:defRPr sz="1100">
                <a:solidFill>
                  <a:srgbClr val="282828"/>
                </a:solidFill>
              </a:defRPr>
            </a:pPr>
            <a:r>
              <a:rPr dirty="0"/>
              <a:t>• Kotlin &amp; Jetpack Compose for modern Android development</a:t>
            </a:r>
          </a:p>
          <a:p>
            <a:pPr>
              <a:spcAft>
                <a:spcPts val="200"/>
              </a:spcAft>
              <a:defRPr sz="1100">
                <a:solidFill>
                  <a:srgbClr val="282828"/>
                </a:solidFill>
              </a:defRPr>
            </a:pPr>
            <a:r>
              <a:rPr dirty="0"/>
              <a:t>• Firebase &amp; Google Cloud Platform for backend services</a:t>
            </a:r>
          </a:p>
          <a:p>
            <a:pPr>
              <a:spcAft>
                <a:spcPts val="200"/>
              </a:spcAft>
              <a:defRPr sz="1100">
                <a:solidFill>
                  <a:srgbClr val="282828"/>
                </a:solidFill>
              </a:defRPr>
            </a:pPr>
            <a:r>
              <a:rPr dirty="0"/>
              <a:t>• Salesforce integration for enterprise solutions</a:t>
            </a:r>
          </a:p>
          <a:p>
            <a:pPr>
              <a:spcAft>
                <a:spcPts val="200"/>
              </a:spcAft>
              <a:defRPr sz="1100">
                <a:solidFill>
                  <a:srgbClr val="282828"/>
                </a:solidFill>
              </a:defRPr>
            </a:pPr>
            <a:r>
              <a:rPr dirty="0"/>
              <a:t>• Generative AI (Gemini) for intelligent features</a:t>
            </a:r>
          </a:p>
          <a:p>
            <a:pPr>
              <a:spcAft>
                <a:spcPts val="200"/>
              </a:spcAft>
              <a:defRPr sz="1100">
                <a:solidFill>
                  <a:srgbClr val="282828"/>
                </a:solidFill>
              </a:defRPr>
            </a:pPr>
            <a:r>
              <a:rPr dirty="0"/>
              <a:t>• Cloud-based deployment and monitoring systems</a:t>
            </a:r>
          </a:p>
          <a:p>
            <a:endParaRPr dirty="0"/>
          </a:p>
          <a:p>
            <a:pPr>
              <a:spcAft>
                <a:spcPts val="300"/>
              </a:spcAft>
              <a:defRPr sz="1300" b="1">
                <a:solidFill>
                  <a:srgbClr val="000000"/>
                </a:solidFill>
              </a:defRPr>
            </a:pPr>
            <a:r>
              <a:rPr dirty="0"/>
              <a:t>Team Structure:</a:t>
            </a:r>
          </a:p>
          <a:p>
            <a:pPr>
              <a:spcAft>
                <a:spcPts val="200"/>
              </a:spcAft>
              <a:defRPr sz="1100">
                <a:solidFill>
                  <a:srgbClr val="282828"/>
                </a:solidFill>
              </a:defRPr>
            </a:pPr>
            <a:r>
              <a:rPr dirty="0"/>
              <a:t>• Founder &amp; CEO: Sujit Kumar (Vision, Strategy, Growth)</a:t>
            </a:r>
          </a:p>
          <a:p>
            <a:pPr>
              <a:spcAft>
                <a:spcPts val="200"/>
              </a:spcAft>
              <a:defRPr sz="1100">
                <a:solidFill>
                  <a:srgbClr val="282828"/>
                </a:solidFill>
              </a:defRPr>
            </a:pPr>
            <a:r>
              <a:rPr dirty="0"/>
              <a:t>• Technical Team: Platform development and maintenance</a:t>
            </a:r>
          </a:p>
          <a:p>
            <a:pPr>
              <a:spcAft>
                <a:spcPts val="200"/>
              </a:spcAft>
              <a:defRPr sz="1100">
                <a:solidFill>
                  <a:srgbClr val="282828"/>
                </a:solidFill>
              </a:defRPr>
            </a:pPr>
            <a:r>
              <a:rPr dirty="0"/>
              <a:t>• Training &amp; Development Team: Curriculum design and course creation</a:t>
            </a:r>
          </a:p>
          <a:p>
            <a:pPr>
              <a:spcAft>
                <a:spcPts val="200"/>
              </a:spcAft>
              <a:defRPr sz="1100">
                <a:solidFill>
                  <a:srgbClr val="282828"/>
                </a:solidFill>
              </a:defRPr>
            </a:pPr>
            <a:r>
              <a:rPr dirty="0"/>
              <a:t>• Internship Mentors: Student guidance and project support</a:t>
            </a:r>
          </a:p>
          <a:p>
            <a:pPr>
              <a:spcAft>
                <a:spcPts val="200"/>
              </a:spcAft>
              <a:defRPr sz="1100">
                <a:solidFill>
                  <a:srgbClr val="282828"/>
                </a:solidFill>
              </a:defRPr>
            </a:pPr>
            <a:r>
              <a:rPr dirty="0"/>
              <a:t>• Student Community: 10,000+ active learners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8229600" cy="640080"/>
          </a:xfrm>
          <a:prstGeom prst="rect">
            <a:avLst/>
          </a:prstGeom>
          <a:noFill/>
        </p:spPr>
        <p:txBody>
          <a:bodyPr wrap="none">
            <a:spAutoFit/>
          </a:bodyPr>
          <a:lstStyle/>
          <a:p>
            <a:pPr>
              <a:defRPr sz="3200" b="1">
                <a:solidFill>
                  <a:srgbClr val="000000"/>
                </a:solidFill>
              </a:defRPr>
            </a:pPr>
            <a:r>
              <a:t>PRODUCTS AND SERVICES</a:t>
            </a:r>
          </a:p>
        </p:txBody>
      </p:sp>
      <p:sp>
        <p:nvSpPr>
          <p:cNvPr id="3" name="TextBox 2"/>
          <p:cNvSpPr txBox="1"/>
          <p:nvPr/>
        </p:nvSpPr>
        <p:spPr>
          <a:xfrm>
            <a:off x="548640" y="1005840"/>
            <a:ext cx="8046720" cy="5394960"/>
          </a:xfrm>
          <a:prstGeom prst="rect">
            <a:avLst/>
          </a:prstGeom>
          <a:noFill/>
        </p:spPr>
        <p:txBody>
          <a:bodyPr wrap="square">
            <a:spAutoFit/>
          </a:bodyPr>
          <a:lstStyle/>
          <a:p>
            <a:pPr>
              <a:spcAft>
                <a:spcPts val="300"/>
              </a:spcAft>
              <a:defRPr sz="1300" b="1">
                <a:solidFill>
                  <a:srgbClr val="000000"/>
                </a:solidFill>
              </a:defRPr>
            </a:pPr>
            <a:r>
              <a:rPr dirty="0"/>
              <a:t>Core Products:</a:t>
            </a:r>
          </a:p>
          <a:p>
            <a:pPr>
              <a:spcAft>
                <a:spcPts val="200"/>
              </a:spcAft>
              <a:defRPr sz="1100">
                <a:solidFill>
                  <a:srgbClr val="282828"/>
                </a:solidFill>
              </a:defRPr>
            </a:pPr>
            <a:r>
              <a:rPr dirty="0"/>
              <a:t>• Cloud-based LMS Platform with AI-powered personalization</a:t>
            </a:r>
          </a:p>
          <a:p>
            <a:pPr>
              <a:spcAft>
                <a:spcPts val="200"/>
              </a:spcAft>
              <a:defRPr sz="1100">
                <a:solidFill>
                  <a:srgbClr val="282828"/>
                </a:solidFill>
              </a:defRPr>
            </a:pPr>
            <a:r>
              <a:rPr dirty="0"/>
              <a:t>• Industry-aligned technical courses in Android Development</a:t>
            </a:r>
          </a:p>
          <a:p>
            <a:pPr>
              <a:spcAft>
                <a:spcPts val="200"/>
              </a:spcAft>
              <a:defRPr sz="1100">
                <a:solidFill>
                  <a:srgbClr val="282828"/>
                </a:solidFill>
              </a:defRPr>
            </a:pPr>
            <a:r>
              <a:rPr dirty="0"/>
              <a:t>• Generative AI integration training programs</a:t>
            </a:r>
          </a:p>
          <a:p>
            <a:pPr>
              <a:spcAft>
                <a:spcPts val="200"/>
              </a:spcAft>
              <a:defRPr sz="1100">
                <a:solidFill>
                  <a:srgbClr val="282828"/>
                </a:solidFill>
              </a:defRPr>
            </a:pPr>
            <a:r>
              <a:rPr dirty="0"/>
              <a:t>• Enterprise-grade cloud solutions</a:t>
            </a:r>
          </a:p>
          <a:p>
            <a:pPr>
              <a:spcAft>
                <a:spcPts val="200"/>
              </a:spcAft>
              <a:defRPr sz="1100">
                <a:solidFill>
                  <a:srgbClr val="282828"/>
                </a:solidFill>
              </a:defRPr>
            </a:pPr>
            <a:r>
              <a:rPr dirty="0"/>
              <a:t>• Real-world project labs and hands-on modules</a:t>
            </a:r>
          </a:p>
          <a:p>
            <a:endParaRPr dirty="0"/>
          </a:p>
          <a:p>
            <a:pPr>
              <a:spcAft>
                <a:spcPts val="300"/>
              </a:spcAft>
              <a:defRPr sz="1300" b="1">
                <a:solidFill>
                  <a:srgbClr val="000000"/>
                </a:solidFill>
              </a:defRPr>
            </a:pPr>
            <a:r>
              <a:rPr dirty="0"/>
              <a:t>Premium Services:</a:t>
            </a:r>
          </a:p>
          <a:p>
            <a:pPr>
              <a:spcAft>
                <a:spcPts val="200"/>
              </a:spcAft>
              <a:defRPr sz="1100">
                <a:solidFill>
                  <a:srgbClr val="282828"/>
                </a:solidFill>
              </a:defRPr>
            </a:pPr>
            <a:r>
              <a:rPr dirty="0"/>
              <a:t>• Expert mentorship programs with industry professionals</a:t>
            </a:r>
          </a:p>
          <a:p>
            <a:pPr>
              <a:spcAft>
                <a:spcPts val="200"/>
              </a:spcAft>
              <a:defRPr sz="1100">
                <a:solidFill>
                  <a:srgbClr val="282828"/>
                </a:solidFill>
              </a:defRPr>
            </a:pPr>
            <a:r>
              <a:rPr dirty="0"/>
              <a:t>• Hands-on real-world projects with actual client requirements</a:t>
            </a:r>
          </a:p>
          <a:p>
            <a:pPr>
              <a:spcAft>
                <a:spcPts val="200"/>
              </a:spcAft>
              <a:defRPr sz="1100">
                <a:solidFill>
                  <a:srgbClr val="282828"/>
                </a:solidFill>
              </a:defRPr>
            </a:pPr>
            <a:r>
              <a:rPr dirty="0"/>
              <a:t>• Internship &amp; placement support with 500+ industry partners</a:t>
            </a:r>
          </a:p>
          <a:p>
            <a:pPr>
              <a:spcAft>
                <a:spcPts val="200"/>
              </a:spcAft>
              <a:defRPr sz="1100">
                <a:solidFill>
                  <a:srgbClr val="282828"/>
                </a:solidFill>
              </a:defRPr>
            </a:pPr>
            <a:r>
              <a:rPr dirty="0"/>
              <a:t>• Career guidance and professional portfolio development</a:t>
            </a:r>
          </a:p>
          <a:p>
            <a:pPr>
              <a:spcAft>
                <a:spcPts val="200"/>
              </a:spcAft>
              <a:defRPr sz="1100">
                <a:solidFill>
                  <a:srgbClr val="282828"/>
                </a:solidFill>
              </a:defRPr>
            </a:pPr>
            <a:r>
              <a:rPr dirty="0"/>
              <a:t>• Skill assessments and industry certifications</a:t>
            </a:r>
          </a:p>
          <a:p>
            <a:endParaRPr dirty="0"/>
          </a:p>
          <a:p>
            <a:pPr>
              <a:spcAft>
                <a:spcPts val="300"/>
              </a:spcAft>
              <a:defRPr sz="1300" b="1">
                <a:solidFill>
                  <a:srgbClr val="000000"/>
                </a:solidFill>
              </a:defRPr>
            </a:pPr>
            <a:r>
              <a:rPr dirty="0"/>
              <a:t>Partnerships:</a:t>
            </a:r>
          </a:p>
          <a:p>
            <a:pPr>
              <a:spcAft>
                <a:spcPts val="200"/>
              </a:spcAft>
              <a:defRPr sz="1100">
                <a:solidFill>
                  <a:srgbClr val="282828"/>
                </a:solidFill>
              </a:defRPr>
            </a:pPr>
            <a:r>
              <a:rPr dirty="0"/>
              <a:t>• 150+ partner academic institutions across India</a:t>
            </a:r>
          </a:p>
          <a:p>
            <a:pPr>
              <a:spcAft>
                <a:spcPts val="200"/>
              </a:spcAft>
              <a:defRPr sz="1100">
                <a:solidFill>
                  <a:srgbClr val="282828"/>
                </a:solidFill>
              </a:defRPr>
            </a:pPr>
            <a:r>
              <a:rPr dirty="0"/>
              <a:t>• 500+ industry partners for placements and projects</a:t>
            </a:r>
          </a:p>
          <a:p>
            <a:pPr>
              <a:spcAft>
                <a:spcPts val="200"/>
              </a:spcAft>
              <a:defRPr sz="1100">
                <a:solidFill>
                  <a:srgbClr val="282828"/>
                </a:solidFill>
              </a:defRPr>
            </a:pPr>
            <a:r>
              <a:rPr dirty="0"/>
              <a:t>• Strategic tech company collaborations for curriculum design</a:t>
            </a:r>
          </a:p>
          <a:p>
            <a:pPr>
              <a:spcAft>
                <a:spcPts val="200"/>
              </a:spcAft>
              <a:defRPr sz="1100">
                <a:solidFill>
                  <a:srgbClr val="282828"/>
                </a:solidFill>
              </a:defRPr>
            </a:pPr>
            <a:r>
              <a:rPr dirty="0"/>
              <a:t>• Direct industry exposure and networking opportunities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8229600" cy="640080"/>
          </a:xfrm>
          <a:prstGeom prst="rect">
            <a:avLst/>
          </a:prstGeom>
          <a:noFill/>
        </p:spPr>
        <p:txBody>
          <a:bodyPr wrap="none">
            <a:spAutoFit/>
          </a:bodyPr>
          <a:lstStyle/>
          <a:p>
            <a:pPr>
              <a:defRPr sz="3200" b="1">
                <a:solidFill>
                  <a:srgbClr val="000000"/>
                </a:solidFill>
              </a:defRPr>
            </a:pPr>
            <a:r>
              <a:rPr dirty="0"/>
              <a:t>COMPANY PROFILE</a:t>
            </a:r>
          </a:p>
        </p:txBody>
      </p:sp>
      <p:sp>
        <p:nvSpPr>
          <p:cNvPr id="3" name="TextBox 2"/>
          <p:cNvSpPr txBox="1"/>
          <p:nvPr/>
        </p:nvSpPr>
        <p:spPr>
          <a:xfrm>
            <a:off x="457200" y="1005840"/>
            <a:ext cx="8046720" cy="3890809"/>
          </a:xfrm>
          <a:prstGeom prst="rect">
            <a:avLst/>
          </a:prstGeom>
          <a:noFill/>
        </p:spPr>
        <p:txBody>
          <a:bodyPr wrap="square">
            <a:spAutoFit/>
          </a:bodyPr>
          <a:lstStyle/>
          <a:p>
            <a:pPr>
              <a:spcAft>
                <a:spcPts val="300"/>
              </a:spcAft>
              <a:defRPr sz="1300" b="1">
                <a:solidFill>
                  <a:srgbClr val="000000"/>
                </a:solidFill>
              </a:defRPr>
            </a:pPr>
            <a:r>
              <a:rPr dirty="0"/>
              <a:t>Company Overview:</a:t>
            </a:r>
          </a:p>
          <a:p>
            <a:pPr>
              <a:spcAft>
                <a:spcPts val="400"/>
              </a:spcAft>
              <a:defRPr sz="1100">
                <a:solidFill>
                  <a:srgbClr val="282828"/>
                </a:solidFill>
              </a:defRPr>
            </a:pPr>
            <a:r>
              <a:rPr sz="1400" dirty="0"/>
              <a:t>MindMatrix.io (CL Infotech Pvt. Ltd.) was established in 2018 with a vision to transform higher education through technology. Headquartered in Bangalore, Karnataka, the company specializes in AI-powered career development and personalized learning platforms.</a:t>
            </a:r>
            <a:endParaRPr sz="4000" dirty="0"/>
          </a:p>
          <a:p>
            <a:pPr>
              <a:spcAft>
                <a:spcPts val="300"/>
              </a:spcAft>
              <a:defRPr sz="1300" b="1">
                <a:solidFill>
                  <a:srgbClr val="000000"/>
                </a:solidFill>
              </a:defRPr>
            </a:pPr>
            <a:r>
              <a:rPr dirty="0"/>
              <a:t>Expertise &amp; Focus:</a:t>
            </a:r>
          </a:p>
          <a:p>
            <a:pPr>
              <a:spcAft>
                <a:spcPts val="200"/>
              </a:spcAft>
              <a:defRPr sz="1100">
                <a:solidFill>
                  <a:srgbClr val="282828"/>
                </a:solidFill>
              </a:defRPr>
            </a:pPr>
            <a:r>
              <a:rPr sz="1400" dirty="0"/>
              <a:t>• AI-powered personalized learning platforms</a:t>
            </a:r>
          </a:p>
          <a:p>
            <a:pPr>
              <a:spcAft>
                <a:spcPts val="200"/>
              </a:spcAft>
              <a:defRPr sz="1100">
                <a:solidFill>
                  <a:srgbClr val="282828"/>
                </a:solidFill>
              </a:defRPr>
            </a:pPr>
            <a:r>
              <a:rPr sz="1400" dirty="0"/>
              <a:t>• Industry-aligned training for engineering students</a:t>
            </a:r>
          </a:p>
          <a:p>
            <a:pPr>
              <a:spcAft>
                <a:spcPts val="200"/>
              </a:spcAft>
              <a:defRPr sz="1100">
                <a:solidFill>
                  <a:srgbClr val="282828"/>
                </a:solidFill>
              </a:defRPr>
            </a:pPr>
            <a:r>
              <a:rPr sz="1400" dirty="0"/>
              <a:t>• Android development and Generative AI specialization</a:t>
            </a:r>
          </a:p>
          <a:p>
            <a:pPr>
              <a:spcAft>
                <a:spcPts val="200"/>
              </a:spcAft>
              <a:defRPr sz="1100">
                <a:solidFill>
                  <a:srgbClr val="282828"/>
                </a:solidFill>
              </a:defRPr>
            </a:pPr>
            <a:r>
              <a:rPr sz="1400" dirty="0"/>
              <a:t>• Bridging gap between academic and industry requirements</a:t>
            </a:r>
          </a:p>
          <a:p>
            <a:pPr>
              <a:spcAft>
                <a:spcPts val="200"/>
              </a:spcAft>
              <a:defRPr sz="1100">
                <a:solidFill>
                  <a:srgbClr val="282828"/>
                </a:solidFill>
              </a:defRPr>
            </a:pPr>
            <a:r>
              <a:rPr sz="1400" dirty="0"/>
              <a:t>• Student-to-professional development programs</a:t>
            </a:r>
            <a:endParaRPr sz="4000" dirty="0"/>
          </a:p>
          <a:p>
            <a:pPr>
              <a:spcAft>
                <a:spcPts val="300"/>
              </a:spcAft>
              <a:defRPr sz="1300" b="1">
                <a:solidFill>
                  <a:srgbClr val="000000"/>
                </a:solidFill>
              </a:defRPr>
            </a:pPr>
            <a:r>
              <a:rPr dirty="0"/>
              <a:t>Scale &amp; Impact:</a:t>
            </a:r>
          </a:p>
          <a:p>
            <a:pPr>
              <a:spcAft>
                <a:spcPts val="200"/>
              </a:spcAft>
              <a:defRPr sz="1100">
                <a:solidFill>
                  <a:srgbClr val="282828"/>
                </a:solidFill>
              </a:defRPr>
            </a:pPr>
            <a:r>
              <a:rPr sz="1400" dirty="0"/>
              <a:t>• Trained 10,000+ students successfully</a:t>
            </a:r>
          </a:p>
          <a:p>
            <a:pPr>
              <a:spcAft>
                <a:spcPts val="200"/>
              </a:spcAft>
              <a:defRPr sz="1100">
                <a:solidFill>
                  <a:srgbClr val="282828"/>
                </a:solidFill>
              </a:defRPr>
            </a:pPr>
            <a:r>
              <a:rPr sz="1400" dirty="0"/>
              <a:t>• Partners with 150+ academic institutions</a:t>
            </a:r>
          </a:p>
          <a:p>
            <a:pPr>
              <a:spcAft>
                <a:spcPts val="200"/>
              </a:spcAft>
              <a:defRPr sz="1100">
                <a:solidFill>
                  <a:srgbClr val="282828"/>
                </a:solidFill>
              </a:defRPr>
            </a:pPr>
            <a:r>
              <a:rPr sz="1400" dirty="0"/>
              <a:t>• Collaborates with 500+ industry partners</a:t>
            </a:r>
          </a:p>
          <a:p>
            <a:pPr>
              <a:spcAft>
                <a:spcPts val="200"/>
              </a:spcAft>
              <a:defRPr sz="1100">
                <a:solidFill>
                  <a:srgbClr val="282828"/>
                </a:solidFill>
              </a:defRPr>
            </a:pPr>
            <a:r>
              <a:rPr sz="1400" dirty="0"/>
              <a:t>• Recognized as top academia-industry bridge platform (2023)</a:t>
            </a:r>
          </a:p>
          <a:p>
            <a:pPr>
              <a:spcAft>
                <a:spcPts val="200"/>
              </a:spcAft>
              <a:defRPr sz="1100">
                <a:solidFill>
                  <a:srgbClr val="282828"/>
                </a:solidFill>
              </a:defRPr>
            </a:pPr>
            <a:r>
              <a:rPr sz="1400" dirty="0"/>
              <a:t>• Operating with 2-10 dedicated team members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8229600" cy="640080"/>
          </a:xfrm>
          <a:prstGeom prst="rect">
            <a:avLst/>
          </a:prstGeom>
          <a:noFill/>
        </p:spPr>
        <p:txBody>
          <a:bodyPr wrap="none">
            <a:spAutoFit/>
          </a:bodyPr>
          <a:lstStyle/>
          <a:p>
            <a:pPr>
              <a:defRPr sz="3200" b="1">
                <a:solidFill>
                  <a:srgbClr val="000000"/>
                </a:solidFill>
              </a:defRPr>
            </a:pPr>
            <a:r>
              <a:t>COMPANY JOURNEY</a:t>
            </a:r>
          </a:p>
        </p:txBody>
      </p:sp>
      <p:sp>
        <p:nvSpPr>
          <p:cNvPr id="3" name="TextBox 2"/>
          <p:cNvSpPr txBox="1"/>
          <p:nvPr/>
        </p:nvSpPr>
        <p:spPr>
          <a:xfrm>
            <a:off x="548640" y="1066225"/>
            <a:ext cx="8046720" cy="3090590"/>
          </a:xfrm>
          <a:prstGeom prst="rect">
            <a:avLst/>
          </a:prstGeom>
          <a:noFill/>
        </p:spPr>
        <p:txBody>
          <a:bodyPr wrap="square">
            <a:spAutoFit/>
          </a:bodyPr>
          <a:lstStyle/>
          <a:p>
            <a:pPr>
              <a:spcAft>
                <a:spcPts val="300"/>
              </a:spcAft>
              <a:defRPr sz="1300" b="1">
                <a:solidFill>
                  <a:srgbClr val="000000"/>
                </a:solidFill>
              </a:defRPr>
            </a:pPr>
            <a:r>
              <a:rPr sz="1600" dirty="0"/>
              <a:t>2018-2020:</a:t>
            </a:r>
          </a:p>
          <a:p>
            <a:pPr>
              <a:spcAft>
                <a:spcPts val="200"/>
              </a:spcAft>
              <a:defRPr sz="1100">
                <a:solidFill>
                  <a:srgbClr val="282828"/>
                </a:solidFill>
              </a:defRPr>
            </a:pPr>
            <a:r>
              <a:rPr sz="1400" dirty="0"/>
              <a:t>• 2018: MindMatrix.io launched with transforming education vision</a:t>
            </a:r>
          </a:p>
          <a:p>
            <a:pPr>
              <a:spcAft>
                <a:spcPts val="200"/>
              </a:spcAft>
              <a:defRPr sz="1100">
                <a:solidFill>
                  <a:srgbClr val="282828"/>
                </a:solidFill>
              </a:defRPr>
            </a:pPr>
            <a:r>
              <a:rPr sz="1400" dirty="0"/>
              <a:t>• 2019: Successfully trained 1000+ students across 10 institutions</a:t>
            </a:r>
          </a:p>
          <a:p>
            <a:pPr>
              <a:spcAft>
                <a:spcPts val="200"/>
              </a:spcAft>
              <a:defRPr sz="1100">
                <a:solidFill>
                  <a:srgbClr val="282828"/>
                </a:solidFill>
              </a:defRPr>
            </a:pPr>
            <a:r>
              <a:rPr sz="1400" dirty="0"/>
              <a:t>• 2020: Established </a:t>
            </a:r>
            <a:r>
              <a:rPr sz="1400" dirty="0" err="1"/>
              <a:t>MindMatrix</a:t>
            </a:r>
            <a:r>
              <a:rPr sz="1400" dirty="0"/>
              <a:t> Labs for innovation and research</a:t>
            </a:r>
            <a:endParaRPr sz="6000" dirty="0"/>
          </a:p>
          <a:p>
            <a:pPr>
              <a:spcAft>
                <a:spcPts val="300"/>
              </a:spcAft>
              <a:defRPr sz="1300" b="1">
                <a:solidFill>
                  <a:srgbClr val="000000"/>
                </a:solidFill>
              </a:defRPr>
            </a:pPr>
            <a:r>
              <a:rPr sz="1600" dirty="0"/>
              <a:t>2021-2023:</a:t>
            </a:r>
          </a:p>
          <a:p>
            <a:pPr>
              <a:spcAft>
                <a:spcPts val="200"/>
              </a:spcAft>
              <a:defRPr sz="1100">
                <a:solidFill>
                  <a:srgbClr val="282828"/>
                </a:solidFill>
              </a:defRPr>
            </a:pPr>
            <a:r>
              <a:rPr sz="1400" dirty="0"/>
              <a:t>• 2021: Partnered with 100+ leading companies for placements</a:t>
            </a:r>
          </a:p>
          <a:p>
            <a:pPr>
              <a:spcAft>
                <a:spcPts val="200"/>
              </a:spcAft>
              <a:defRPr sz="1100">
                <a:solidFill>
                  <a:srgbClr val="282828"/>
                </a:solidFill>
              </a:defRPr>
            </a:pPr>
            <a:r>
              <a:rPr sz="1400" dirty="0"/>
              <a:t>• 2022: Launched </a:t>
            </a:r>
            <a:r>
              <a:rPr sz="1400" dirty="0" err="1"/>
              <a:t>LaunchPad</a:t>
            </a:r>
            <a:r>
              <a:rPr sz="1400" dirty="0"/>
              <a:t> Initiative for student entrepreneurs</a:t>
            </a:r>
          </a:p>
          <a:p>
            <a:pPr>
              <a:spcAft>
                <a:spcPts val="200"/>
              </a:spcAft>
              <a:defRPr sz="1100">
                <a:solidFill>
                  <a:srgbClr val="282828"/>
                </a:solidFill>
              </a:defRPr>
            </a:pPr>
            <a:r>
              <a:rPr sz="1400" dirty="0"/>
              <a:t>• 2023: Recognized as top academia-industry bridge platform nationally</a:t>
            </a:r>
            <a:endParaRPr sz="6000" dirty="0"/>
          </a:p>
          <a:p>
            <a:pPr>
              <a:spcAft>
                <a:spcPts val="300"/>
              </a:spcAft>
              <a:defRPr sz="1300" b="1">
                <a:solidFill>
                  <a:srgbClr val="000000"/>
                </a:solidFill>
              </a:defRPr>
            </a:pPr>
            <a:r>
              <a:rPr sz="1600" dirty="0"/>
              <a:t>2024 &amp; Beyond:</a:t>
            </a:r>
          </a:p>
          <a:p>
            <a:pPr>
              <a:spcAft>
                <a:spcPts val="200"/>
              </a:spcAft>
              <a:defRPr sz="1100">
                <a:solidFill>
                  <a:srgbClr val="282828"/>
                </a:solidFill>
              </a:defRPr>
            </a:pPr>
            <a:r>
              <a:rPr sz="1400" dirty="0"/>
              <a:t>• Integrated advanced AI-powered learning paths</a:t>
            </a:r>
          </a:p>
          <a:p>
            <a:pPr>
              <a:spcAft>
                <a:spcPts val="200"/>
              </a:spcAft>
              <a:defRPr sz="1100">
                <a:solidFill>
                  <a:srgbClr val="282828"/>
                </a:solidFill>
              </a:defRPr>
            </a:pPr>
            <a:r>
              <a:rPr sz="1400" dirty="0"/>
              <a:t>• Continuing expansion of industry partnerships</a:t>
            </a:r>
          </a:p>
          <a:p>
            <a:pPr>
              <a:spcAft>
                <a:spcPts val="200"/>
              </a:spcAft>
              <a:defRPr sz="1100">
                <a:solidFill>
                  <a:srgbClr val="282828"/>
                </a:solidFill>
              </a:defRPr>
            </a:pPr>
            <a:r>
              <a:rPr sz="1400" dirty="0"/>
              <a:t>• Building community of industry-ready professionals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8229600" cy="640080"/>
          </a:xfrm>
          <a:prstGeom prst="rect">
            <a:avLst/>
          </a:prstGeom>
          <a:noFill/>
        </p:spPr>
        <p:txBody>
          <a:bodyPr wrap="none">
            <a:spAutoFit/>
          </a:bodyPr>
          <a:lstStyle/>
          <a:p>
            <a:pPr>
              <a:defRPr sz="3200" b="1">
                <a:solidFill>
                  <a:srgbClr val="000000"/>
                </a:solidFill>
              </a:defRPr>
            </a:pPr>
            <a:r>
              <a:t>OBJECTIVES OF THE INTERNSHIP</a:t>
            </a:r>
          </a:p>
        </p:txBody>
      </p:sp>
      <p:sp>
        <p:nvSpPr>
          <p:cNvPr id="3" name="TextBox 2"/>
          <p:cNvSpPr txBox="1"/>
          <p:nvPr/>
        </p:nvSpPr>
        <p:spPr>
          <a:xfrm>
            <a:off x="764540" y="1092104"/>
            <a:ext cx="8046720" cy="5394960"/>
          </a:xfrm>
          <a:prstGeom prst="rect">
            <a:avLst/>
          </a:prstGeom>
          <a:noFill/>
        </p:spPr>
        <p:txBody>
          <a:bodyPr wrap="square">
            <a:spAutoFit/>
          </a:bodyPr>
          <a:lstStyle/>
          <a:p>
            <a:pPr>
              <a:spcAft>
                <a:spcPts val="300"/>
              </a:spcAft>
              <a:defRPr sz="1300" b="1">
                <a:solidFill>
                  <a:srgbClr val="000000"/>
                </a:solidFill>
              </a:defRPr>
            </a:pPr>
            <a:r>
              <a:rPr dirty="0"/>
              <a:t>Primary Objectives:</a:t>
            </a:r>
          </a:p>
          <a:p>
            <a:pPr>
              <a:spcAft>
                <a:spcPts val="200"/>
              </a:spcAft>
              <a:defRPr sz="1100">
                <a:solidFill>
                  <a:srgbClr val="282828"/>
                </a:solidFill>
              </a:defRPr>
            </a:pPr>
            <a:r>
              <a:rPr dirty="0"/>
              <a:t>• Master Android app development with Kotlin and Jetpack Compose for production-ready applications</a:t>
            </a:r>
          </a:p>
          <a:p>
            <a:pPr>
              <a:spcAft>
                <a:spcPts val="200"/>
              </a:spcAft>
              <a:defRPr sz="1100">
                <a:solidFill>
                  <a:srgbClr val="282828"/>
                </a:solidFill>
              </a:defRPr>
            </a:pPr>
            <a:r>
              <a:rPr dirty="0"/>
              <a:t>• Learn integration of Generative AI capabilities into mobile applications using modern frameworks</a:t>
            </a:r>
          </a:p>
          <a:p>
            <a:pPr>
              <a:spcAft>
                <a:spcPts val="200"/>
              </a:spcAft>
              <a:defRPr sz="1100">
                <a:solidFill>
                  <a:srgbClr val="282828"/>
                </a:solidFill>
              </a:defRPr>
            </a:pPr>
            <a:r>
              <a:rPr dirty="0"/>
              <a:t>• Gain hands-on experience with industry-standard tools and cloud platforms for enterprise development</a:t>
            </a:r>
          </a:p>
          <a:p>
            <a:pPr>
              <a:spcAft>
                <a:spcPts val="200"/>
              </a:spcAft>
              <a:defRPr sz="1100">
                <a:solidFill>
                  <a:srgbClr val="282828"/>
                </a:solidFill>
              </a:defRPr>
            </a:pPr>
            <a:r>
              <a:rPr dirty="0"/>
              <a:t>• Understand modern app architecture patterns and best practices followed in corporate environments</a:t>
            </a:r>
          </a:p>
          <a:p>
            <a:pPr>
              <a:spcAft>
                <a:spcPts val="200"/>
              </a:spcAft>
              <a:defRPr sz="1100">
                <a:solidFill>
                  <a:srgbClr val="282828"/>
                </a:solidFill>
              </a:defRPr>
            </a:pPr>
            <a:r>
              <a:rPr dirty="0"/>
              <a:t>• Build professional portfolio with multiple production-ready applications demonstrating technical expertise</a:t>
            </a:r>
          </a:p>
          <a:p>
            <a:endParaRPr dirty="0"/>
          </a:p>
          <a:p>
            <a:pPr>
              <a:spcAft>
                <a:spcPts val="300"/>
              </a:spcAft>
              <a:defRPr sz="1300" b="1">
                <a:solidFill>
                  <a:srgbClr val="000000"/>
                </a:solidFill>
              </a:defRPr>
            </a:pPr>
            <a:r>
              <a:rPr dirty="0"/>
              <a:t>Technical Competencies:</a:t>
            </a:r>
          </a:p>
          <a:p>
            <a:pPr>
              <a:spcAft>
                <a:spcPts val="200"/>
              </a:spcAft>
              <a:defRPr sz="1100">
                <a:solidFill>
                  <a:srgbClr val="282828"/>
                </a:solidFill>
              </a:defRPr>
            </a:pPr>
            <a:r>
              <a:rPr dirty="0"/>
              <a:t>• Develop networking capabilities with REST APIs and async data handling</a:t>
            </a:r>
          </a:p>
          <a:p>
            <a:pPr>
              <a:spcAft>
                <a:spcPts val="200"/>
              </a:spcAft>
              <a:defRPr sz="1100">
                <a:solidFill>
                  <a:srgbClr val="282828"/>
                </a:solidFill>
              </a:defRPr>
            </a:pPr>
            <a:r>
              <a:rPr dirty="0"/>
              <a:t>• Create responsive UI designs with Jetpack Compose following Material Design principles</a:t>
            </a:r>
          </a:p>
          <a:p>
            <a:pPr>
              <a:spcAft>
                <a:spcPts val="200"/>
              </a:spcAft>
              <a:defRPr sz="1100">
                <a:solidFill>
                  <a:srgbClr val="282828"/>
                </a:solidFill>
              </a:defRPr>
            </a:pPr>
            <a:r>
              <a:rPr dirty="0"/>
              <a:t>• Implement concurrent programming with Kotlin Coroutines for efficient resource management</a:t>
            </a:r>
          </a:p>
          <a:p>
            <a:pPr>
              <a:spcAft>
                <a:spcPts val="200"/>
              </a:spcAft>
              <a:defRPr sz="1100">
                <a:solidFill>
                  <a:srgbClr val="282828"/>
                </a:solidFill>
              </a:defRPr>
            </a:pPr>
            <a:r>
              <a:rPr dirty="0"/>
              <a:t>• Master cloud platform integration (Google Cloud, Salesforce, Firebase)</a:t>
            </a:r>
          </a:p>
          <a:p>
            <a:endParaRPr dirty="0"/>
          </a:p>
          <a:p>
            <a:pPr>
              <a:spcAft>
                <a:spcPts val="300"/>
              </a:spcAft>
              <a:defRPr sz="1300" b="1">
                <a:solidFill>
                  <a:srgbClr val="000000"/>
                </a:solidFill>
              </a:defRPr>
            </a:pPr>
            <a:r>
              <a:rPr dirty="0"/>
              <a:t>Career Goals:</a:t>
            </a:r>
          </a:p>
          <a:p>
            <a:pPr>
              <a:spcAft>
                <a:spcPts val="200"/>
              </a:spcAft>
              <a:defRPr sz="1100">
                <a:solidFill>
                  <a:srgbClr val="282828"/>
                </a:solidFill>
              </a:defRPr>
            </a:pPr>
            <a:r>
              <a:rPr dirty="0"/>
              <a:t>• Prepare for industry-ready Android development positions</a:t>
            </a:r>
          </a:p>
          <a:p>
            <a:pPr>
              <a:spcAft>
                <a:spcPts val="200"/>
              </a:spcAft>
              <a:defRPr sz="1100">
                <a:solidFill>
                  <a:srgbClr val="282828"/>
                </a:solidFill>
              </a:defRPr>
            </a:pPr>
            <a:r>
              <a:rPr dirty="0"/>
              <a:t>• Develop professional communication and collaboration skills</a:t>
            </a:r>
          </a:p>
          <a:p>
            <a:pPr>
              <a:spcAft>
                <a:spcPts val="200"/>
              </a:spcAft>
              <a:defRPr sz="1100">
                <a:solidFill>
                  <a:srgbClr val="282828"/>
                </a:solidFill>
              </a:defRPr>
            </a:pPr>
            <a:r>
              <a:rPr dirty="0"/>
              <a:t>• Build marketable portfolio demonstrating complete feature development capabilities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8229600" cy="640080"/>
          </a:xfrm>
          <a:prstGeom prst="rect">
            <a:avLst/>
          </a:prstGeom>
          <a:noFill/>
        </p:spPr>
        <p:txBody>
          <a:bodyPr wrap="none">
            <a:spAutoFit/>
          </a:bodyPr>
          <a:lstStyle/>
          <a:p>
            <a:pPr>
              <a:defRPr sz="3200" b="1">
                <a:solidFill>
                  <a:srgbClr val="000000"/>
                </a:solidFill>
              </a:defRPr>
            </a:pPr>
            <a:r>
              <a:rPr dirty="0"/>
              <a:t>LEARNING EXPERIENCES</a:t>
            </a:r>
            <a:br>
              <a:rPr dirty="0"/>
            </a:br>
            <a:r>
              <a:rPr dirty="0"/>
              <a:t>(FOUNDATION &amp; KOTLIN PROGRAMMING)</a:t>
            </a:r>
          </a:p>
        </p:txBody>
      </p:sp>
      <p:sp>
        <p:nvSpPr>
          <p:cNvPr id="3" name="TextBox 2"/>
          <p:cNvSpPr txBox="1"/>
          <p:nvPr/>
        </p:nvSpPr>
        <p:spPr>
          <a:xfrm>
            <a:off x="548640" y="1645920"/>
            <a:ext cx="7551564" cy="3074454"/>
          </a:xfrm>
          <a:prstGeom prst="rect">
            <a:avLst/>
          </a:prstGeom>
          <a:noFill/>
        </p:spPr>
        <p:txBody>
          <a:bodyPr wrap="square">
            <a:spAutoFit/>
          </a:bodyPr>
          <a:lstStyle/>
          <a:p>
            <a:pPr>
              <a:spcAft>
                <a:spcPts val="300"/>
              </a:spcAft>
              <a:defRPr sz="1300" b="1">
                <a:solidFill>
                  <a:srgbClr val="000000"/>
                </a:solidFill>
              </a:defRPr>
            </a:pPr>
            <a:r>
              <a:rPr dirty="0"/>
              <a:t>Platform Onboarding &amp; Fundamentals:</a:t>
            </a:r>
          </a:p>
          <a:p>
            <a:pPr>
              <a:spcAft>
                <a:spcPts val="400"/>
              </a:spcAft>
              <a:defRPr sz="1100">
                <a:solidFill>
                  <a:srgbClr val="282828"/>
                </a:solidFill>
              </a:defRPr>
            </a:pPr>
            <a:r>
              <a:rPr dirty="0"/>
              <a:t>The internship began with mastering the </a:t>
            </a:r>
            <a:r>
              <a:rPr dirty="0" err="1"/>
              <a:t>MindMatrix</a:t>
            </a:r>
            <a:r>
              <a:rPr dirty="0"/>
              <a:t> portal and configuring Google Cloud Platform environments. Badge-based learning modules established foundational knowledge, and Kotlin programming was progressively learned from basic logic to advanced object-oriented concepts.</a:t>
            </a:r>
          </a:p>
          <a:p>
            <a:endParaRPr dirty="0"/>
          </a:p>
          <a:p>
            <a:pPr>
              <a:spcAft>
                <a:spcPts val="300"/>
              </a:spcAft>
              <a:defRPr sz="1300" b="1">
                <a:solidFill>
                  <a:srgbClr val="000000"/>
                </a:solidFill>
              </a:defRPr>
            </a:pPr>
            <a:r>
              <a:rPr dirty="0"/>
              <a:t>Programming Concepts:</a:t>
            </a:r>
          </a:p>
          <a:p>
            <a:pPr>
              <a:spcAft>
                <a:spcPts val="200"/>
              </a:spcAft>
              <a:defRPr sz="1100">
                <a:solidFill>
                  <a:srgbClr val="282828"/>
                </a:solidFill>
              </a:defRPr>
            </a:pPr>
            <a:r>
              <a:rPr dirty="0"/>
              <a:t>• Data classes, higher-order functions, and polymorphism</a:t>
            </a:r>
          </a:p>
          <a:p>
            <a:pPr>
              <a:spcAft>
                <a:spcPts val="200"/>
              </a:spcAft>
              <a:defRPr sz="1100">
                <a:solidFill>
                  <a:srgbClr val="282828"/>
                </a:solidFill>
              </a:defRPr>
            </a:pPr>
            <a:r>
              <a:rPr dirty="0"/>
              <a:t>• Functional programming paradigms in Kotlin</a:t>
            </a:r>
          </a:p>
          <a:p>
            <a:pPr>
              <a:spcAft>
                <a:spcPts val="200"/>
              </a:spcAft>
              <a:defRPr sz="1100">
                <a:solidFill>
                  <a:srgbClr val="282828"/>
                </a:solidFill>
              </a:defRPr>
            </a:pPr>
            <a:r>
              <a:rPr dirty="0"/>
              <a:t>• Error handling and null safety features</a:t>
            </a:r>
          </a:p>
          <a:p>
            <a:pPr>
              <a:spcAft>
                <a:spcPts val="200"/>
              </a:spcAft>
              <a:defRPr sz="1100">
                <a:solidFill>
                  <a:srgbClr val="282828"/>
                </a:solidFill>
              </a:defRPr>
            </a:pPr>
            <a:r>
              <a:rPr dirty="0"/>
              <a:t>• Design patterns for scalable code architecture</a:t>
            </a:r>
          </a:p>
          <a:p>
            <a:endParaRPr dirty="0"/>
          </a:p>
          <a:p>
            <a:pPr>
              <a:spcAft>
                <a:spcPts val="300"/>
              </a:spcAft>
              <a:defRPr sz="1300" b="1">
                <a:solidFill>
                  <a:srgbClr val="000000"/>
                </a:solidFill>
              </a:defRPr>
            </a:pPr>
            <a:r>
              <a:rPr dirty="0"/>
              <a:t>Console Applications:</a:t>
            </a:r>
          </a:p>
          <a:p>
            <a:pPr>
              <a:spcAft>
                <a:spcPts val="400"/>
              </a:spcAft>
              <a:defRPr sz="1100">
                <a:solidFill>
                  <a:srgbClr val="282828"/>
                </a:solidFill>
              </a:defRPr>
            </a:pPr>
            <a:r>
              <a:rPr dirty="0"/>
              <a:t>Practical projects included building tip calculators, contact managers, and inventory systems. These projects reinforced design patterns and established the foundation for advanced mobile development.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8229600" cy="548640"/>
          </a:xfrm>
          <a:prstGeom prst="rect">
            <a:avLst/>
          </a:prstGeom>
          <a:noFill/>
        </p:spPr>
        <p:txBody>
          <a:bodyPr wrap="none">
            <a:spAutoFit/>
          </a:bodyPr>
          <a:lstStyle/>
          <a:p>
            <a:pPr>
              <a:defRPr sz="3200" b="1">
                <a:solidFill>
                  <a:srgbClr val="000000"/>
                </a:solidFill>
              </a:defRPr>
            </a:pPr>
            <a:r>
              <a:t>PROJECT: YOUTUBE SUMMARIZER</a:t>
            </a:r>
            <a:br/>
            <a:r>
              <a:t>(GOOGLE CLOUD PLATFORM &amp; GENERATIVE AI)</a:t>
            </a:r>
          </a:p>
        </p:txBody>
      </p:sp>
      <p:sp>
        <p:nvSpPr>
          <p:cNvPr id="3" name="TextBox 2"/>
          <p:cNvSpPr txBox="1"/>
          <p:nvPr/>
        </p:nvSpPr>
        <p:spPr>
          <a:xfrm>
            <a:off x="548640" y="1471667"/>
            <a:ext cx="4389120" cy="5303520"/>
          </a:xfrm>
          <a:prstGeom prst="rect">
            <a:avLst/>
          </a:prstGeom>
          <a:noFill/>
        </p:spPr>
        <p:txBody>
          <a:bodyPr wrap="square">
            <a:spAutoFit/>
          </a:bodyPr>
          <a:lstStyle/>
          <a:p>
            <a:pPr>
              <a:lnSpc>
                <a:spcPct val="130000"/>
              </a:lnSpc>
              <a:defRPr sz="1100">
                <a:solidFill>
                  <a:srgbClr val="323232"/>
                </a:solidFill>
              </a:defRPr>
            </a:pPr>
            <a:r>
              <a:rPr dirty="0"/>
              <a:t>Developed a comprehensive cloud-based application leveraging Google Cloud infrastructure and Generative AI capabilities.</a:t>
            </a:r>
            <a:br>
              <a:rPr dirty="0"/>
            </a:br>
            <a:br>
              <a:rPr dirty="0"/>
            </a:br>
            <a:r>
              <a:rPr dirty="0"/>
              <a:t>The project involved provisioning GCP resources, enabling critical APIs including Vertex AI, Cloud Run, Cloud Build, and Cloud Resource Manager for authentication and infrastructure management. A Python Flask web application was created with custom HTML frontend and backend logic.</a:t>
            </a:r>
            <a:br>
              <a:rPr dirty="0"/>
            </a:br>
            <a:br>
              <a:rPr dirty="0"/>
            </a:br>
            <a:r>
              <a:rPr dirty="0"/>
              <a:t>The application analyzes YouTube video transcripts using the Gemini AI engine and generates concise, accurate summaries. The system was successfully deployed and tested using Cloud Shell web preview, demonstrating practical integration of cloud services with AI technologies.</a:t>
            </a:r>
            <a:br>
              <a:rPr dirty="0"/>
            </a:br>
            <a:br>
              <a:rPr dirty="0"/>
            </a:br>
            <a:r>
              <a:rPr dirty="0"/>
              <a:t>Key learnings: Cloud infrastructure management, secure API key handling, Python Flask development, end-to-end cloud deployment, and practical Generative AI integration in production applications.</a:t>
            </a:r>
          </a:p>
        </p:txBody>
      </p:sp>
      <p:pic>
        <p:nvPicPr>
          <p:cNvPr id="4" name="Picture 3" descr="Screenshot_2026-04-13_135412.png"/>
          <p:cNvPicPr>
            <a:picLocks noChangeAspect="1"/>
          </p:cNvPicPr>
          <p:nvPr/>
        </p:nvPicPr>
        <p:blipFill>
          <a:blip r:embed="rId2"/>
          <a:stretch>
            <a:fillRect/>
          </a:stretch>
        </p:blipFill>
        <p:spPr>
          <a:xfrm>
            <a:off x="5120640" y="2325681"/>
            <a:ext cx="3566160" cy="185834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8436634" cy="1569660"/>
          </a:xfrm>
          <a:prstGeom prst="rect">
            <a:avLst/>
          </a:prstGeom>
          <a:noFill/>
        </p:spPr>
        <p:txBody>
          <a:bodyPr wrap="square">
            <a:spAutoFit/>
          </a:bodyPr>
          <a:lstStyle/>
          <a:p>
            <a:pPr>
              <a:defRPr sz="3200" b="1">
                <a:solidFill>
                  <a:srgbClr val="000000"/>
                </a:solidFill>
              </a:defRPr>
            </a:pPr>
            <a:r>
              <a:rPr dirty="0"/>
              <a:t>SALESFORCE TRAILHEAD &amp; ANDROID DEVELOPMENT</a:t>
            </a:r>
            <a:br>
              <a:rPr dirty="0"/>
            </a:br>
            <a:r>
              <a:rPr dirty="0"/>
              <a:t>(GENERATIVE AI &amp; ENTERPRISE PLATFORMS)</a:t>
            </a:r>
          </a:p>
        </p:txBody>
      </p:sp>
      <p:sp>
        <p:nvSpPr>
          <p:cNvPr id="3" name="TextBox 2"/>
          <p:cNvSpPr txBox="1"/>
          <p:nvPr/>
        </p:nvSpPr>
        <p:spPr>
          <a:xfrm>
            <a:off x="548640" y="1849156"/>
            <a:ext cx="4389120" cy="5303520"/>
          </a:xfrm>
          <a:prstGeom prst="rect">
            <a:avLst/>
          </a:prstGeom>
          <a:noFill/>
        </p:spPr>
        <p:txBody>
          <a:bodyPr wrap="square">
            <a:spAutoFit/>
          </a:bodyPr>
          <a:lstStyle/>
          <a:p>
            <a:pPr>
              <a:lnSpc>
                <a:spcPct val="130000"/>
              </a:lnSpc>
              <a:defRPr sz="1100">
                <a:solidFill>
                  <a:srgbClr val="323232"/>
                </a:solidFill>
              </a:defRPr>
            </a:pPr>
            <a:r>
              <a:rPr dirty="0"/>
              <a:t>Achieved Adventurer rank on Salesforce Trailhead with 29 badges and 10,250 points, demonstrating expertise in enterprise AI and automation platforms.</a:t>
            </a:r>
            <a:br>
              <a:rPr dirty="0"/>
            </a:br>
            <a:br>
              <a:rPr dirty="0"/>
            </a:br>
            <a:r>
              <a:rPr dirty="0"/>
              <a:t>Completed </a:t>
            </a:r>
            <a:r>
              <a:rPr dirty="0" err="1"/>
              <a:t>Superbadge</a:t>
            </a:r>
            <a:r>
              <a:rPr dirty="0"/>
              <a:t> for Prompt Builder Templates, recognizing proficiency in creating AI-powered insights and custom prompt logic. Mastered the </a:t>
            </a:r>
            <a:r>
              <a:rPr dirty="0" err="1"/>
              <a:t>Agentforce</a:t>
            </a:r>
            <a:r>
              <a:rPr dirty="0"/>
              <a:t> ecosystem including Agent Planning, Builder Basics, and specialized implementations for Sales and Service platforms.</a:t>
            </a:r>
            <a:br>
              <a:rPr dirty="0"/>
            </a:br>
            <a:br>
              <a:rPr dirty="0"/>
            </a:br>
            <a:r>
              <a:rPr dirty="0"/>
              <a:t>Advanced training covered AI Strategy, Trusted Agentic AI, and Threat Modeling for secure, responsible AI deployment. Simultaneously, Android development training focused on Jetpack Compose integration, building responsive card-based UI layouts with seamless animations and Material Design 3 principles.</a:t>
            </a:r>
            <a:br>
              <a:rPr dirty="0"/>
            </a:br>
            <a:br>
              <a:rPr dirty="0"/>
            </a:br>
            <a:r>
              <a:rPr dirty="0"/>
              <a:t>Key learnings: Enterprise AI implementation, </a:t>
            </a:r>
            <a:r>
              <a:rPr dirty="0" err="1"/>
              <a:t>Agentforce</a:t>
            </a:r>
            <a:r>
              <a:rPr dirty="0"/>
              <a:t> ecosystem mastery, professional UI design patterns, and production-ready application development practices.</a:t>
            </a:r>
          </a:p>
        </p:txBody>
      </p:sp>
      <p:pic>
        <p:nvPicPr>
          <p:cNvPr id="4" name="Picture 3" descr="Screenshot_2026-04-13_140524.png"/>
          <p:cNvPicPr>
            <a:picLocks noChangeAspect="1"/>
          </p:cNvPicPr>
          <p:nvPr/>
        </p:nvPicPr>
        <p:blipFill>
          <a:blip r:embed="rId2"/>
          <a:stretch>
            <a:fillRect/>
          </a:stretch>
        </p:blipFill>
        <p:spPr>
          <a:xfrm>
            <a:off x="5029200" y="1937494"/>
            <a:ext cx="3566160" cy="1839759"/>
          </a:xfrm>
          <a:prstGeom prst="rect">
            <a:avLst/>
          </a:prstGeom>
        </p:spPr>
      </p:pic>
      <p:pic>
        <p:nvPicPr>
          <p:cNvPr id="6" name="Picture 5">
            <a:extLst>
              <a:ext uri="{FF2B5EF4-FFF2-40B4-BE49-F238E27FC236}">
                <a16:creationId xmlns:a16="http://schemas.microsoft.com/office/drawing/2014/main" id="{A16E99A5-5D18-948F-BF7F-BC00C6E7971E}"/>
              </a:ext>
            </a:extLst>
          </p:cNvPr>
          <p:cNvPicPr>
            <a:picLocks noChangeAspect="1"/>
          </p:cNvPicPr>
          <p:nvPr/>
        </p:nvPicPr>
        <p:blipFill>
          <a:blip r:embed="rId3"/>
          <a:stretch>
            <a:fillRect/>
          </a:stretch>
        </p:blipFill>
        <p:spPr>
          <a:xfrm>
            <a:off x="5029200" y="4085779"/>
            <a:ext cx="3566160" cy="185648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8229600" cy="640080"/>
          </a:xfrm>
          <a:prstGeom prst="rect">
            <a:avLst/>
          </a:prstGeom>
          <a:noFill/>
        </p:spPr>
        <p:txBody>
          <a:bodyPr wrap="none">
            <a:spAutoFit/>
          </a:bodyPr>
          <a:lstStyle/>
          <a:p>
            <a:pPr>
              <a:defRPr sz="3200" b="1">
                <a:solidFill>
                  <a:srgbClr val="000000"/>
                </a:solidFill>
              </a:defRPr>
            </a:pPr>
            <a:r>
              <a:rPr dirty="0"/>
              <a:t>ANDROID PROJECTS</a:t>
            </a:r>
            <a:br>
              <a:rPr dirty="0"/>
            </a:br>
            <a:r>
              <a:rPr dirty="0"/>
              <a:t>(NETWORKING &amp; CONCURRENT PROGRAMMING)</a:t>
            </a:r>
          </a:p>
        </p:txBody>
      </p:sp>
      <p:sp>
        <p:nvSpPr>
          <p:cNvPr id="3" name="TextBox 2"/>
          <p:cNvSpPr txBox="1"/>
          <p:nvPr/>
        </p:nvSpPr>
        <p:spPr>
          <a:xfrm>
            <a:off x="548640" y="1575183"/>
            <a:ext cx="8046720" cy="5394960"/>
          </a:xfrm>
          <a:prstGeom prst="rect">
            <a:avLst/>
          </a:prstGeom>
          <a:noFill/>
        </p:spPr>
        <p:txBody>
          <a:bodyPr wrap="square">
            <a:spAutoFit/>
          </a:bodyPr>
          <a:lstStyle/>
          <a:p>
            <a:pPr>
              <a:spcAft>
                <a:spcPts val="300"/>
              </a:spcAft>
              <a:defRPr sz="1300" b="1">
                <a:solidFill>
                  <a:srgbClr val="000000"/>
                </a:solidFill>
              </a:defRPr>
            </a:pPr>
            <a:r>
              <a:rPr dirty="0"/>
              <a:t>Race Tracker Application - Concurrency:</a:t>
            </a:r>
          </a:p>
          <a:p>
            <a:pPr>
              <a:spcAft>
                <a:spcPts val="400"/>
              </a:spcAft>
              <a:defRPr sz="1100">
                <a:solidFill>
                  <a:srgbClr val="282828"/>
                </a:solidFill>
              </a:defRPr>
            </a:pPr>
            <a:r>
              <a:rPr dirty="0"/>
              <a:t>Mastered Kotlin Coroutines and concurrent programming by implementing parallel race simulation. Explored memory optimization using delay() functions and launch builders to prevent CPU blocking during asynchronous task execution. Successfully managed multiple threads efficiently for responsive user interfaces and learned practical concurrency patterns used in production applications.</a:t>
            </a:r>
          </a:p>
          <a:p>
            <a:endParaRPr dirty="0"/>
          </a:p>
          <a:p>
            <a:pPr>
              <a:spcAft>
                <a:spcPts val="300"/>
              </a:spcAft>
              <a:defRPr sz="1300" b="1">
                <a:solidFill>
                  <a:srgbClr val="000000"/>
                </a:solidFill>
              </a:defRPr>
            </a:pPr>
            <a:r>
              <a:rPr dirty="0"/>
              <a:t>Mars App - Internet Connectivity:</a:t>
            </a:r>
          </a:p>
          <a:p>
            <a:pPr>
              <a:spcAft>
                <a:spcPts val="400"/>
              </a:spcAft>
              <a:defRPr sz="1100">
                <a:solidFill>
                  <a:srgbClr val="282828"/>
                </a:solidFill>
              </a:defRPr>
            </a:pPr>
            <a:r>
              <a:rPr dirty="0"/>
              <a:t>Focused on real-world data integration by fetching NASA Mars Rover API data. Implemented Retrofit library for REST API integration and Moshi JSON parser for robust data handling. Managed network states including loading, success, and error conditions with proper user feedback. Displayed real-time API data within Jetpack Compose UI, demonstrating practical connectivity patterns.</a:t>
            </a:r>
          </a:p>
          <a:p>
            <a:endParaRPr dirty="0"/>
          </a:p>
          <a:p>
            <a:pPr>
              <a:spcAft>
                <a:spcPts val="300"/>
              </a:spcAft>
              <a:defRPr sz="1300" b="1">
                <a:solidFill>
                  <a:srgbClr val="000000"/>
                </a:solidFill>
              </a:defRPr>
            </a:pPr>
            <a:r>
              <a:rPr dirty="0"/>
              <a:t>Key Learnings:</a:t>
            </a:r>
          </a:p>
          <a:p>
            <a:pPr>
              <a:spcAft>
                <a:spcPts val="200"/>
              </a:spcAft>
              <a:defRPr sz="1100">
                <a:solidFill>
                  <a:srgbClr val="282828"/>
                </a:solidFill>
              </a:defRPr>
            </a:pPr>
            <a:r>
              <a:rPr dirty="0"/>
              <a:t>• Kotlin Coroutines for efficient asynchronous programming</a:t>
            </a:r>
          </a:p>
          <a:p>
            <a:pPr>
              <a:spcAft>
                <a:spcPts val="200"/>
              </a:spcAft>
              <a:defRPr sz="1100">
                <a:solidFill>
                  <a:srgbClr val="282828"/>
                </a:solidFill>
              </a:defRPr>
            </a:pPr>
            <a:r>
              <a:rPr dirty="0"/>
              <a:t>• REST API integration and external service connectivity</a:t>
            </a:r>
          </a:p>
          <a:p>
            <a:pPr>
              <a:spcAft>
                <a:spcPts val="200"/>
              </a:spcAft>
              <a:defRPr sz="1100">
                <a:solidFill>
                  <a:srgbClr val="282828"/>
                </a:solidFill>
              </a:defRPr>
            </a:pPr>
            <a:r>
              <a:rPr dirty="0"/>
              <a:t>• Network state management and error handling patterns</a:t>
            </a:r>
          </a:p>
          <a:p>
            <a:pPr>
              <a:spcAft>
                <a:spcPts val="200"/>
              </a:spcAft>
              <a:defRPr sz="1100">
                <a:solidFill>
                  <a:srgbClr val="282828"/>
                </a:solidFill>
              </a:defRPr>
            </a:pPr>
            <a:r>
              <a:rPr dirty="0"/>
              <a:t>• Responsive UI implementation with real-time data updates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8229600" cy="548640"/>
          </a:xfrm>
          <a:prstGeom prst="rect">
            <a:avLst/>
          </a:prstGeom>
          <a:noFill/>
        </p:spPr>
        <p:txBody>
          <a:bodyPr wrap="none">
            <a:spAutoFit/>
          </a:bodyPr>
          <a:lstStyle/>
          <a:p>
            <a:pPr>
              <a:defRPr sz="3200" b="1">
                <a:solidFill>
                  <a:srgbClr val="000000"/>
                </a:solidFill>
              </a:defRPr>
            </a:pPr>
            <a:r>
              <a:rPr dirty="0"/>
              <a:t>SIDE PROJECT: AI RESUME ANALYZER</a:t>
            </a:r>
            <a:br>
              <a:rPr dirty="0"/>
            </a:br>
            <a:r>
              <a:rPr dirty="0"/>
              <a:t>(INTEGRATING ALL LEARNINGS)</a:t>
            </a:r>
          </a:p>
        </p:txBody>
      </p:sp>
      <p:sp>
        <p:nvSpPr>
          <p:cNvPr id="3" name="TextBox 2"/>
          <p:cNvSpPr txBox="1"/>
          <p:nvPr/>
        </p:nvSpPr>
        <p:spPr>
          <a:xfrm>
            <a:off x="548640" y="1437161"/>
            <a:ext cx="4389120" cy="5303520"/>
          </a:xfrm>
          <a:prstGeom prst="rect">
            <a:avLst/>
          </a:prstGeom>
          <a:noFill/>
        </p:spPr>
        <p:txBody>
          <a:bodyPr wrap="square">
            <a:spAutoFit/>
          </a:bodyPr>
          <a:lstStyle/>
          <a:p>
            <a:pPr>
              <a:lnSpc>
                <a:spcPct val="130000"/>
              </a:lnSpc>
              <a:defRPr sz="1100">
                <a:solidFill>
                  <a:srgbClr val="323232"/>
                </a:solidFill>
              </a:defRPr>
            </a:pPr>
            <a:r>
              <a:rPr dirty="0"/>
              <a:t>Developed a comprehensive AI-driven Resume Analyzer application combining Android development expertise with AI-powered analytics to solve real-world career challenges.</a:t>
            </a:r>
            <a:br>
              <a:rPr dirty="0"/>
            </a:br>
            <a:br>
              <a:rPr dirty="0"/>
            </a:br>
            <a:r>
              <a:rPr dirty="0"/>
              <a:t>The application enables users to select target roles (Android Developer, Data Analyst, etc.) and analyzes resume details including education, experience, certifications, and skills. The system provides a real-time ATS score out of 100 with detailed section-by-section analysis and intelligent keyword gap identification.</a:t>
            </a:r>
            <a:br>
              <a:rPr dirty="0"/>
            </a:br>
            <a:br>
              <a:rPr dirty="0"/>
            </a:br>
            <a:r>
              <a:rPr dirty="0"/>
              <a:t>Core feature: Keyword gap analysis identifies missing industry-specific terms like Kotlin, Jetpack Compose, and Retrofit, offering actionable recommendations for improvement. This project demonstrates integration of data analysis algorithms with Android UI/UX principles using Jetpack Compose.</a:t>
            </a:r>
            <a:br>
              <a:rPr dirty="0"/>
            </a:br>
            <a:br>
              <a:rPr dirty="0"/>
            </a:br>
            <a:r>
              <a:rPr dirty="0"/>
              <a:t>Integrated learning: Combines cloud infrastructure concepts, Generative AI insights, network API calls for data processing, concurrent programming for responsive performance, and professional UI design into a single production-ready application.</a:t>
            </a:r>
          </a:p>
        </p:txBody>
      </p:sp>
      <p:pic>
        <p:nvPicPr>
          <p:cNvPr id="8" name="Picture 7">
            <a:extLst>
              <a:ext uri="{FF2B5EF4-FFF2-40B4-BE49-F238E27FC236}">
                <a16:creationId xmlns:a16="http://schemas.microsoft.com/office/drawing/2014/main" id="{400A44AD-45DD-6E37-E9CD-BD6226C1E918}"/>
              </a:ext>
            </a:extLst>
          </p:cNvPr>
          <p:cNvPicPr>
            <a:picLocks noChangeAspect="1"/>
          </p:cNvPicPr>
          <p:nvPr/>
        </p:nvPicPr>
        <p:blipFill>
          <a:blip r:embed="rId2"/>
          <a:stretch>
            <a:fillRect/>
          </a:stretch>
        </p:blipFill>
        <p:spPr>
          <a:xfrm>
            <a:off x="5978105" y="1264633"/>
            <a:ext cx="2359985" cy="502793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8229600" cy="640080"/>
          </a:xfrm>
          <a:prstGeom prst="rect">
            <a:avLst/>
          </a:prstGeom>
          <a:noFill/>
        </p:spPr>
        <p:txBody>
          <a:bodyPr wrap="none">
            <a:spAutoFit/>
          </a:bodyPr>
          <a:lstStyle/>
          <a:p>
            <a:pPr>
              <a:defRPr sz="3200" b="1">
                <a:solidFill>
                  <a:srgbClr val="000000"/>
                </a:solidFill>
              </a:defRPr>
            </a:pPr>
            <a:r>
              <a:t>LEARNING OUTCOMES</a:t>
            </a:r>
            <a:br/>
            <a:r>
              <a:t>(TECHNICAL &amp; PROFESSIONAL SKILLS)</a:t>
            </a:r>
          </a:p>
        </p:txBody>
      </p:sp>
      <p:sp>
        <p:nvSpPr>
          <p:cNvPr id="3" name="TextBox 2"/>
          <p:cNvSpPr txBox="1"/>
          <p:nvPr/>
        </p:nvSpPr>
        <p:spPr>
          <a:xfrm>
            <a:off x="457200" y="1402655"/>
            <a:ext cx="8046720" cy="5394960"/>
          </a:xfrm>
          <a:prstGeom prst="rect">
            <a:avLst/>
          </a:prstGeom>
          <a:noFill/>
        </p:spPr>
        <p:txBody>
          <a:bodyPr wrap="square">
            <a:spAutoFit/>
          </a:bodyPr>
          <a:lstStyle/>
          <a:p>
            <a:pPr>
              <a:spcAft>
                <a:spcPts val="300"/>
              </a:spcAft>
              <a:defRPr sz="1300" b="1">
                <a:solidFill>
                  <a:srgbClr val="000000"/>
                </a:solidFill>
              </a:defRPr>
            </a:pPr>
            <a:r>
              <a:rPr dirty="0"/>
              <a:t>Technical Skills Acquired:</a:t>
            </a:r>
          </a:p>
          <a:p>
            <a:pPr>
              <a:spcAft>
                <a:spcPts val="200"/>
              </a:spcAft>
              <a:defRPr sz="1100">
                <a:solidFill>
                  <a:srgbClr val="282828"/>
                </a:solidFill>
              </a:defRPr>
            </a:pPr>
            <a:r>
              <a:rPr dirty="0"/>
              <a:t>• Strong proficiency in Kotlin fundamentals and advanced object-oriented programming</a:t>
            </a:r>
          </a:p>
          <a:p>
            <a:pPr>
              <a:spcAft>
                <a:spcPts val="200"/>
              </a:spcAft>
              <a:defRPr sz="1100">
                <a:solidFill>
                  <a:srgbClr val="282828"/>
                </a:solidFill>
              </a:defRPr>
            </a:pPr>
            <a:r>
              <a:rPr dirty="0"/>
              <a:t>• Android Studio development with Jetpack Compose for modern UI design</a:t>
            </a:r>
          </a:p>
          <a:p>
            <a:pPr>
              <a:spcAft>
                <a:spcPts val="200"/>
              </a:spcAft>
              <a:defRPr sz="1100">
                <a:solidFill>
                  <a:srgbClr val="282828"/>
                </a:solidFill>
              </a:defRPr>
            </a:pPr>
            <a:r>
              <a:rPr dirty="0"/>
              <a:t>• Kotlin Coroutines for concurrent programming and asynchronous task management</a:t>
            </a:r>
          </a:p>
          <a:p>
            <a:pPr>
              <a:spcAft>
                <a:spcPts val="200"/>
              </a:spcAft>
              <a:defRPr sz="1100">
                <a:solidFill>
                  <a:srgbClr val="282828"/>
                </a:solidFill>
              </a:defRPr>
            </a:pPr>
            <a:r>
              <a:rPr dirty="0"/>
              <a:t>• REST API integration with Retrofit and JSON parsing with Moshi</a:t>
            </a:r>
          </a:p>
          <a:p>
            <a:pPr>
              <a:spcAft>
                <a:spcPts val="200"/>
              </a:spcAft>
              <a:defRPr sz="1100">
                <a:solidFill>
                  <a:srgbClr val="282828"/>
                </a:solidFill>
              </a:defRPr>
            </a:pPr>
            <a:r>
              <a:rPr dirty="0"/>
              <a:t>• Google Cloud Platform infrastructure provisioning and management</a:t>
            </a:r>
          </a:p>
          <a:p>
            <a:pPr>
              <a:spcAft>
                <a:spcPts val="200"/>
              </a:spcAft>
              <a:defRPr sz="1100">
                <a:solidFill>
                  <a:srgbClr val="282828"/>
                </a:solidFill>
              </a:defRPr>
            </a:pPr>
            <a:r>
              <a:rPr dirty="0"/>
              <a:t>• Generative AI implementation using Gemini and Google AI Studio</a:t>
            </a:r>
          </a:p>
          <a:p>
            <a:pPr>
              <a:spcAft>
                <a:spcPts val="200"/>
              </a:spcAft>
              <a:defRPr sz="1100">
                <a:solidFill>
                  <a:srgbClr val="282828"/>
                </a:solidFill>
              </a:defRPr>
            </a:pPr>
            <a:r>
              <a:rPr dirty="0"/>
              <a:t>• Salesforce </a:t>
            </a:r>
            <a:r>
              <a:rPr dirty="0" err="1"/>
              <a:t>Agentforce</a:t>
            </a:r>
            <a:r>
              <a:rPr dirty="0"/>
              <a:t> ecosystem and enterprise AI solutions</a:t>
            </a:r>
          </a:p>
          <a:p>
            <a:endParaRPr dirty="0"/>
          </a:p>
          <a:p>
            <a:pPr>
              <a:spcAft>
                <a:spcPts val="300"/>
              </a:spcAft>
              <a:defRPr sz="1300" b="1">
                <a:solidFill>
                  <a:srgbClr val="000000"/>
                </a:solidFill>
              </a:defRPr>
            </a:pPr>
            <a:r>
              <a:rPr dirty="0"/>
              <a:t>Professional Skills Developed:</a:t>
            </a:r>
          </a:p>
          <a:p>
            <a:pPr>
              <a:spcAft>
                <a:spcPts val="200"/>
              </a:spcAft>
              <a:defRPr sz="1100">
                <a:solidFill>
                  <a:srgbClr val="282828"/>
                </a:solidFill>
              </a:defRPr>
            </a:pPr>
            <a:r>
              <a:rPr dirty="0"/>
              <a:t>• Clear articulation of technical work in presentations and code reviews</a:t>
            </a:r>
          </a:p>
          <a:p>
            <a:pPr>
              <a:spcAft>
                <a:spcPts val="200"/>
              </a:spcAft>
              <a:defRPr sz="1100">
                <a:solidFill>
                  <a:srgbClr val="282828"/>
                </a:solidFill>
              </a:defRPr>
            </a:pPr>
            <a:r>
              <a:rPr dirty="0"/>
              <a:t>• Effective technical documentation and communication skills</a:t>
            </a:r>
          </a:p>
          <a:p>
            <a:pPr>
              <a:spcAft>
                <a:spcPts val="200"/>
              </a:spcAft>
              <a:defRPr sz="1100">
                <a:solidFill>
                  <a:srgbClr val="282828"/>
                </a:solidFill>
              </a:defRPr>
            </a:pPr>
            <a:r>
              <a:rPr dirty="0"/>
              <a:t>• Time management, task prioritization, and professional workplace conduct</a:t>
            </a:r>
          </a:p>
          <a:p>
            <a:pPr>
              <a:spcAft>
                <a:spcPts val="200"/>
              </a:spcAft>
              <a:defRPr sz="1100">
                <a:solidFill>
                  <a:srgbClr val="282828"/>
                </a:solidFill>
              </a:defRPr>
            </a:pPr>
            <a:r>
              <a:rPr dirty="0"/>
              <a:t>• Collaborative teamwork and agile methodology understanding</a:t>
            </a:r>
          </a:p>
          <a:p>
            <a:pPr>
              <a:spcAft>
                <a:spcPts val="200"/>
              </a:spcAft>
              <a:defRPr sz="1100">
                <a:solidFill>
                  <a:srgbClr val="282828"/>
                </a:solidFill>
              </a:defRPr>
            </a:pPr>
            <a:r>
              <a:rPr dirty="0"/>
              <a:t>• Version control practices (Git) and code quality discipline</a:t>
            </a:r>
          </a:p>
          <a:p>
            <a:pPr>
              <a:spcAft>
                <a:spcPts val="200"/>
              </a:spcAft>
              <a:defRPr sz="1100">
                <a:solidFill>
                  <a:srgbClr val="282828"/>
                </a:solidFill>
              </a:defRPr>
            </a:pPr>
            <a:r>
              <a:rPr dirty="0"/>
              <a:t>• Detail-oriented documentation and continuous learning mindset</a:t>
            </a:r>
          </a:p>
          <a:p>
            <a:pPr>
              <a:spcAft>
                <a:spcPts val="200"/>
              </a:spcAft>
              <a:defRPr sz="1100">
                <a:solidFill>
                  <a:srgbClr val="282828"/>
                </a:solidFill>
              </a:defRPr>
            </a:pPr>
            <a:r>
              <a:rPr dirty="0"/>
              <a:t>• Adaptability to changing requirements and persistent problem-solving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8229600" cy="640080"/>
          </a:xfrm>
          <a:prstGeom prst="rect">
            <a:avLst/>
          </a:prstGeom>
          <a:noFill/>
        </p:spPr>
        <p:txBody>
          <a:bodyPr wrap="none">
            <a:spAutoFit/>
          </a:bodyPr>
          <a:lstStyle/>
          <a:p>
            <a:pPr>
              <a:defRPr sz="3200" b="1">
                <a:solidFill>
                  <a:srgbClr val="000000"/>
                </a:solidFill>
              </a:defRPr>
            </a:pPr>
            <a:r>
              <a:t>CONCLUSIONS</a:t>
            </a:r>
          </a:p>
        </p:txBody>
      </p:sp>
      <p:sp>
        <p:nvSpPr>
          <p:cNvPr id="3" name="TextBox 2"/>
          <p:cNvSpPr txBox="1"/>
          <p:nvPr/>
        </p:nvSpPr>
        <p:spPr>
          <a:xfrm>
            <a:off x="548640" y="1005840"/>
            <a:ext cx="8046720" cy="5394960"/>
          </a:xfrm>
          <a:prstGeom prst="rect">
            <a:avLst/>
          </a:prstGeom>
          <a:noFill/>
        </p:spPr>
        <p:txBody>
          <a:bodyPr wrap="square">
            <a:spAutoFit/>
          </a:bodyPr>
          <a:lstStyle/>
          <a:p>
            <a:pPr>
              <a:spcAft>
                <a:spcPts val="300"/>
              </a:spcAft>
              <a:defRPr sz="1300" b="1">
                <a:solidFill>
                  <a:srgbClr val="000000"/>
                </a:solidFill>
              </a:defRPr>
            </a:pPr>
            <a:r>
              <a:t>Industry Transition Success:</a:t>
            </a:r>
          </a:p>
          <a:p>
            <a:pPr>
              <a:spcAft>
                <a:spcPts val="400"/>
              </a:spcAft>
              <a:defRPr sz="1100">
                <a:solidFill>
                  <a:srgbClr val="282828"/>
                </a:solidFill>
              </a:defRPr>
            </a:pPr>
            <a:r>
              <a:t>This internship successfully bridged the gap between academic theory and corporate practice, providing comprehensive understanding of real-world software development lifecycles and preparing for immediate contribution to professional development teams.</a:t>
            </a:r>
          </a:p>
          <a:p>
            <a:endParaRPr/>
          </a:p>
          <a:p>
            <a:pPr>
              <a:spcAft>
                <a:spcPts val="300"/>
              </a:spcAft>
              <a:defRPr sz="1300" b="1">
                <a:solidFill>
                  <a:srgbClr val="000000"/>
                </a:solidFill>
              </a:defRPr>
            </a:pPr>
            <a:r>
              <a:t>Technical Mastery Achieved:</a:t>
            </a:r>
          </a:p>
          <a:p>
            <a:pPr>
              <a:spcAft>
                <a:spcPts val="200"/>
              </a:spcAft>
              <a:defRPr sz="1100">
                <a:solidFill>
                  <a:srgbClr val="282828"/>
                </a:solidFill>
              </a:defRPr>
            </a:pPr>
            <a:r>
              <a:t>• Demonstrated strong proficiency in Kotlin and Jetpack Compose through multiple production-ready applications</a:t>
            </a:r>
          </a:p>
          <a:p>
            <a:pPr>
              <a:spcAft>
                <a:spcPts val="200"/>
              </a:spcAft>
              <a:defRPr sz="1100">
                <a:solidFill>
                  <a:srgbClr val="282828"/>
                </a:solidFill>
              </a:defRPr>
            </a:pPr>
            <a:r>
              <a:t>• Successfully implemented concurrent programming with Kotlin Coroutines for responsive, efficient applications</a:t>
            </a:r>
          </a:p>
          <a:p>
            <a:pPr>
              <a:spcAft>
                <a:spcPts val="200"/>
              </a:spcAft>
              <a:defRPr sz="1100">
                <a:solidFill>
                  <a:srgbClr val="282828"/>
                </a:solidFill>
              </a:defRPr>
            </a:pPr>
            <a:r>
              <a:t>• Gained practical expertise in REST API integration and real-time data management</a:t>
            </a:r>
          </a:p>
          <a:p>
            <a:pPr>
              <a:spcAft>
                <a:spcPts val="200"/>
              </a:spcAft>
              <a:defRPr sz="1100">
                <a:solidFill>
                  <a:srgbClr val="282828"/>
                </a:solidFill>
              </a:defRPr>
            </a:pPr>
            <a:r>
              <a:t>• Mastered Generative AI integration for intelligent feature development</a:t>
            </a:r>
          </a:p>
          <a:p>
            <a:pPr>
              <a:spcAft>
                <a:spcPts val="200"/>
              </a:spcAft>
              <a:defRPr sz="1100">
                <a:solidFill>
                  <a:srgbClr val="282828"/>
                </a:solidFill>
              </a:defRPr>
            </a:pPr>
            <a:r>
              <a:t>• Developed cloud infrastructure knowledge through Google Cloud Platform and enterprise solutions</a:t>
            </a:r>
          </a:p>
          <a:p>
            <a:endParaRPr/>
          </a:p>
          <a:p>
            <a:pPr>
              <a:spcAft>
                <a:spcPts val="300"/>
              </a:spcAft>
              <a:defRPr sz="1300" b="1">
                <a:solidFill>
                  <a:srgbClr val="000000"/>
                </a:solidFill>
              </a:defRPr>
            </a:pPr>
            <a:r>
              <a:t>Holistic Professional Growth:</a:t>
            </a:r>
          </a:p>
          <a:p>
            <a:pPr>
              <a:spcAft>
                <a:spcPts val="200"/>
              </a:spcAft>
              <a:defRPr sz="1100">
                <a:solidFill>
                  <a:srgbClr val="282828"/>
                </a:solidFill>
              </a:defRPr>
            </a:pPr>
            <a:r>
              <a:t>• Developed robust foundation combining technical expertise with essential soft skills</a:t>
            </a:r>
          </a:p>
          <a:p>
            <a:pPr>
              <a:spcAft>
                <a:spcPts val="200"/>
              </a:spcAft>
              <a:defRPr sz="1100">
                <a:solidFill>
                  <a:srgbClr val="282828"/>
                </a:solidFill>
              </a:defRPr>
            </a:pPr>
            <a:r>
              <a:t>• Enhanced professional communication and collaborative problem-solving capabilities</a:t>
            </a:r>
          </a:p>
          <a:p>
            <a:pPr>
              <a:spcAft>
                <a:spcPts val="200"/>
              </a:spcAft>
              <a:defRPr sz="1100">
                <a:solidFill>
                  <a:srgbClr val="282828"/>
                </a:solidFill>
              </a:defRPr>
            </a:pPr>
            <a:r>
              <a:t>• Built marketable portfolio demonstrating complete feature development from design to deployment</a:t>
            </a:r>
          </a:p>
          <a:p>
            <a:pPr>
              <a:spcAft>
                <a:spcPts val="200"/>
              </a:spcAft>
              <a:defRPr sz="1100">
                <a:solidFill>
                  <a:srgbClr val="282828"/>
                </a:solidFill>
              </a:defRPr>
            </a:pPr>
            <a:r>
              <a:t>• Positioned for successful career transition to professional IT industry roles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8229600" cy="640080"/>
          </a:xfrm>
          <a:prstGeom prst="rect">
            <a:avLst/>
          </a:prstGeom>
          <a:noFill/>
        </p:spPr>
        <p:txBody>
          <a:bodyPr wrap="none">
            <a:spAutoFit/>
          </a:bodyPr>
          <a:lstStyle/>
          <a:p>
            <a:pPr>
              <a:defRPr sz="3200" b="1">
                <a:solidFill>
                  <a:srgbClr val="000000"/>
                </a:solidFill>
              </a:defRPr>
            </a:pPr>
            <a:r>
              <a:t>REFERENCES &amp; LEARNING SOURCES</a:t>
            </a:r>
          </a:p>
        </p:txBody>
      </p:sp>
      <p:sp>
        <p:nvSpPr>
          <p:cNvPr id="3" name="TextBox 2"/>
          <p:cNvSpPr txBox="1"/>
          <p:nvPr/>
        </p:nvSpPr>
        <p:spPr>
          <a:xfrm>
            <a:off x="548640" y="1005840"/>
            <a:ext cx="8046720" cy="5394960"/>
          </a:xfrm>
          <a:prstGeom prst="rect">
            <a:avLst/>
          </a:prstGeom>
          <a:noFill/>
        </p:spPr>
        <p:txBody>
          <a:bodyPr wrap="square">
            <a:spAutoFit/>
          </a:bodyPr>
          <a:lstStyle/>
          <a:p>
            <a:pPr>
              <a:spcAft>
                <a:spcPts val="300"/>
              </a:spcAft>
              <a:defRPr sz="1300" b="1">
                <a:solidFill>
                  <a:srgbClr val="000000"/>
                </a:solidFill>
              </a:defRPr>
            </a:pPr>
            <a:r>
              <a:rPr dirty="0"/>
              <a:t>Official Documentation &amp; Platforms:</a:t>
            </a:r>
          </a:p>
          <a:p>
            <a:pPr>
              <a:spcAft>
                <a:spcPts val="200"/>
              </a:spcAft>
              <a:defRPr sz="1100">
                <a:solidFill>
                  <a:srgbClr val="282828"/>
                </a:solidFill>
              </a:defRPr>
            </a:pPr>
            <a:r>
              <a:rPr dirty="0"/>
              <a:t>• Android Developer Official Documentation: https://developer.android.com/</a:t>
            </a:r>
          </a:p>
          <a:p>
            <a:pPr>
              <a:spcAft>
                <a:spcPts val="200"/>
              </a:spcAft>
              <a:defRPr sz="1100">
                <a:solidFill>
                  <a:srgbClr val="282828"/>
                </a:solidFill>
              </a:defRPr>
            </a:pPr>
            <a:r>
              <a:rPr dirty="0"/>
              <a:t>• Google Android </a:t>
            </a:r>
            <a:r>
              <a:rPr dirty="0" err="1"/>
              <a:t>Codelabs</a:t>
            </a:r>
            <a:r>
              <a:rPr dirty="0"/>
              <a:t>: https://codelabs.developers.google.com/?cat=android</a:t>
            </a:r>
          </a:p>
          <a:p>
            <a:pPr>
              <a:spcAft>
                <a:spcPts val="200"/>
              </a:spcAft>
              <a:defRPr sz="1100">
                <a:solidFill>
                  <a:srgbClr val="282828"/>
                </a:solidFill>
              </a:defRPr>
            </a:pPr>
            <a:r>
              <a:rPr dirty="0"/>
              <a:t>• Jetpack Compose Documentation: https://developer.android.com/jetpack/compose</a:t>
            </a:r>
          </a:p>
          <a:p>
            <a:pPr>
              <a:spcAft>
                <a:spcPts val="200"/>
              </a:spcAft>
              <a:defRPr sz="1100">
                <a:solidFill>
                  <a:srgbClr val="282828"/>
                </a:solidFill>
              </a:defRPr>
            </a:pPr>
            <a:r>
              <a:rPr dirty="0"/>
              <a:t>• Kotlin Official Documentation: https://kotlinlang.org/docs/</a:t>
            </a:r>
          </a:p>
          <a:p>
            <a:endParaRPr dirty="0"/>
          </a:p>
          <a:p>
            <a:pPr>
              <a:spcAft>
                <a:spcPts val="300"/>
              </a:spcAft>
              <a:defRPr sz="1300" b="1">
                <a:solidFill>
                  <a:srgbClr val="000000"/>
                </a:solidFill>
              </a:defRPr>
            </a:pPr>
            <a:r>
              <a:rPr dirty="0"/>
              <a:t>Learning Platforms &amp; Resources:</a:t>
            </a:r>
          </a:p>
          <a:p>
            <a:pPr>
              <a:spcAft>
                <a:spcPts val="200"/>
              </a:spcAft>
              <a:defRPr sz="1100">
                <a:solidFill>
                  <a:srgbClr val="282828"/>
                </a:solidFill>
              </a:defRPr>
            </a:pPr>
            <a:r>
              <a:rPr dirty="0"/>
              <a:t>• </a:t>
            </a:r>
            <a:r>
              <a:rPr dirty="0" err="1"/>
              <a:t>MindMatrix</a:t>
            </a:r>
            <a:r>
              <a:rPr dirty="0"/>
              <a:t> LMS: https://lms.mindmatrix.io/</a:t>
            </a:r>
          </a:p>
          <a:p>
            <a:pPr>
              <a:spcAft>
                <a:spcPts val="200"/>
              </a:spcAft>
              <a:defRPr sz="1100">
                <a:solidFill>
                  <a:srgbClr val="282828"/>
                </a:solidFill>
              </a:defRPr>
            </a:pPr>
            <a:r>
              <a:rPr dirty="0"/>
              <a:t>• Salesforce Trailhead: https://trailhead.salesforce.com/</a:t>
            </a:r>
          </a:p>
          <a:p>
            <a:pPr>
              <a:spcAft>
                <a:spcPts val="200"/>
              </a:spcAft>
              <a:defRPr sz="1100">
                <a:solidFill>
                  <a:srgbClr val="282828"/>
                </a:solidFill>
              </a:defRPr>
            </a:pPr>
            <a:r>
              <a:rPr dirty="0"/>
              <a:t>• Google Cloud Platform: https://cloud.google.com/</a:t>
            </a:r>
          </a:p>
          <a:p>
            <a:pPr>
              <a:spcAft>
                <a:spcPts val="200"/>
              </a:spcAft>
              <a:defRPr sz="1100">
                <a:solidFill>
                  <a:srgbClr val="282828"/>
                </a:solidFill>
              </a:defRPr>
            </a:pPr>
            <a:r>
              <a:rPr dirty="0"/>
              <a:t>• Google Cloud Console: https://console.cloud.google.com/</a:t>
            </a:r>
          </a:p>
          <a:p>
            <a:endParaRPr dirty="0"/>
          </a:p>
          <a:p>
            <a:pPr>
              <a:spcAft>
                <a:spcPts val="300"/>
              </a:spcAft>
              <a:defRPr sz="1300" b="1">
                <a:solidFill>
                  <a:srgbClr val="000000"/>
                </a:solidFill>
              </a:defRPr>
            </a:pPr>
            <a:r>
              <a:rPr dirty="0"/>
              <a:t>Project &amp; Community Resources:</a:t>
            </a:r>
          </a:p>
          <a:p>
            <a:pPr>
              <a:spcAft>
                <a:spcPts val="200"/>
              </a:spcAft>
              <a:defRPr sz="1100">
                <a:solidFill>
                  <a:srgbClr val="282828"/>
                </a:solidFill>
              </a:defRPr>
            </a:pPr>
            <a:r>
              <a:rPr dirty="0"/>
              <a:t>• Project Source Code Repository: github.com/Arjun-BS</a:t>
            </a:r>
          </a:p>
          <a:p>
            <a:pPr>
              <a:spcAft>
                <a:spcPts val="200"/>
              </a:spcAft>
              <a:defRPr sz="1100">
                <a:solidFill>
                  <a:srgbClr val="282828"/>
                </a:solidFill>
              </a:defRPr>
            </a:pPr>
            <a:r>
              <a:rPr dirty="0"/>
              <a:t>• Android Studio IDE and debugging tools</a:t>
            </a:r>
          </a:p>
          <a:p>
            <a:pPr>
              <a:spcAft>
                <a:spcPts val="200"/>
              </a:spcAft>
              <a:defRPr sz="1100">
                <a:solidFill>
                  <a:srgbClr val="282828"/>
                </a:solidFill>
              </a:defRPr>
            </a:pPr>
            <a:r>
              <a:rPr dirty="0"/>
              <a:t>• Stack Overflow Android community forums</a:t>
            </a:r>
          </a:p>
          <a:p>
            <a:pPr>
              <a:spcAft>
                <a:spcPts val="200"/>
              </a:spcAft>
              <a:defRPr sz="1100">
                <a:solidFill>
                  <a:srgbClr val="282828"/>
                </a:solidFill>
              </a:defRPr>
            </a:pPr>
            <a:r>
              <a:rPr dirty="0"/>
              <a:t>• </a:t>
            </a:r>
            <a:r>
              <a:rPr dirty="0" err="1"/>
              <a:t>MindMatrix</a:t>
            </a:r>
            <a:r>
              <a:rPr dirty="0"/>
              <a:t> mentorship and peer learning community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32</TotalTime>
  <Words>1857</Words>
  <Application>Microsoft Office PowerPoint</Application>
  <PresentationFormat>On-screen Show (4:3)</PresentationFormat>
  <Paragraphs>168</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zygard B</cp:lastModifiedBy>
  <cp:revision>2</cp:revision>
  <dcterms:created xsi:type="dcterms:W3CDTF">2013-01-27T09:14:16Z</dcterms:created>
  <dcterms:modified xsi:type="dcterms:W3CDTF">2026-04-13T10:47:47Z</dcterms:modified>
  <cp:category/>
</cp:coreProperties>
</file>